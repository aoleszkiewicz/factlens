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ab8c72bd8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ab8c72bd8_2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ab8c72bd8_2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ab8c72bd8_2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ab8c72bd8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eab8c72bd8_2_2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ab8c72bd8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ab8c72bd8_2_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ab8c72bd8_2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ab8c72bd8_2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ab8c72bd8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ab8c72bd8_2_2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ab8c72bd8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eab8c72bd8_2_3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ab8c72bd8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eab8c72bd8_2_3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ab8c72bd8_2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eab8c72bd8_2_3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ab8c72bd8_2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eab8c72bd8_2_3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ytułowa 2 HR">
  <p:cSld name="PBŚ Tytułowa 2 H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BS WTIiE logo main PPT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00" y="285750"/>
            <a:ext cx="2904363" cy="13510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/>
          <p:nvPr>
            <p:ph idx="2" type="pic"/>
          </p:nvPr>
        </p:nvSpPr>
        <p:spPr>
          <a:xfrm>
            <a:off x="4198313" y="-1124"/>
            <a:ext cx="4662315" cy="5164970"/>
          </a:xfrm>
          <a:prstGeom prst="rect">
            <a:avLst/>
          </a:prstGeom>
          <a:solidFill>
            <a:srgbClr val="0F7DC1"/>
          </a:solidFill>
          <a:ln>
            <a:noFill/>
          </a:ln>
        </p:spPr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609600" y="4572000"/>
            <a:ext cx="1828800" cy="311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820E2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3" type="body"/>
          </p:nvPr>
        </p:nvSpPr>
        <p:spPr>
          <a:xfrm>
            <a:off x="533400" y="2000250"/>
            <a:ext cx="3962400" cy="804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830E21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830E2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4" type="body"/>
          </p:nvPr>
        </p:nvSpPr>
        <p:spPr>
          <a:xfrm>
            <a:off x="533400" y="2971800"/>
            <a:ext cx="3962400" cy="1351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>
            <a:off x="8839200" y="0"/>
            <a:ext cx="304800" cy="5143500"/>
          </a:xfrm>
          <a:prstGeom prst="rect">
            <a:avLst/>
          </a:prstGeom>
          <a:solidFill>
            <a:srgbClr val="830E2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main PPT.png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7781" y="571500"/>
            <a:ext cx="896414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Spis treści">
  <p:cSld name="PBŚ Spis treści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BS WTIiE logo common PPT2.png" id="60" name="Google Shape;6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2520219" y="800100"/>
            <a:ext cx="1284156" cy="44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20D1F"/>
                </a:solidFill>
                <a:latin typeface="Calibri"/>
                <a:ea typeface="Calibri"/>
                <a:cs typeface="Calibri"/>
                <a:sym typeface="Calibri"/>
              </a:rPr>
              <a:t>Spis</a:t>
            </a:r>
            <a:r>
              <a:rPr b="1" lang="en" sz="2400">
                <a:solidFill>
                  <a:srgbClr val="820D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400">
                <a:solidFill>
                  <a:srgbClr val="820D1F"/>
                </a:solidFill>
                <a:latin typeface="Calibri"/>
                <a:ea typeface="Calibri"/>
                <a:cs typeface="Calibri"/>
                <a:sym typeface="Calibri"/>
              </a:rPr>
              <a:t>treści</a:t>
            </a:r>
            <a:endParaRPr/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438400" y="2338361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2438400" y="2661415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body"/>
          </p:nvPr>
        </p:nvSpPr>
        <p:spPr>
          <a:xfrm>
            <a:off x="2438400" y="2982506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body"/>
          </p:nvPr>
        </p:nvSpPr>
        <p:spPr>
          <a:xfrm>
            <a:off x="2438400" y="3308489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5" type="body"/>
          </p:nvPr>
        </p:nvSpPr>
        <p:spPr>
          <a:xfrm>
            <a:off x="2438400" y="3631247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6" type="body"/>
          </p:nvPr>
        </p:nvSpPr>
        <p:spPr>
          <a:xfrm>
            <a:off x="2438400" y="3954005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7" type="body"/>
          </p:nvPr>
        </p:nvSpPr>
        <p:spPr>
          <a:xfrm>
            <a:off x="2438400" y="4277101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8" type="body"/>
          </p:nvPr>
        </p:nvSpPr>
        <p:spPr>
          <a:xfrm>
            <a:off x="2438400" y="2015603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9" type="body"/>
          </p:nvPr>
        </p:nvSpPr>
        <p:spPr>
          <a:xfrm>
            <a:off x="2438400" y="1695866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13" type="body"/>
          </p:nvPr>
        </p:nvSpPr>
        <p:spPr>
          <a:xfrm>
            <a:off x="2438400" y="1371600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5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>
            <p:ph idx="14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5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76" name="Google Shape;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ytuł + tekst 1">
  <p:cSld name="PBŚ Tytuł + tekst 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533401" y="2687240"/>
            <a:ext cx="7848599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533400" y="1544240"/>
            <a:ext cx="78486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0F7DC1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6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4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6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86" name="Google Shape;8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Koniec">
  <p:cSld name="PBŚ Koniec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57200" y="1137642"/>
            <a:ext cx="6324600" cy="80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820E2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7"/>
          <p:cNvSpPr/>
          <p:nvPr>
            <p:ph idx="2" type="pic"/>
          </p:nvPr>
        </p:nvSpPr>
        <p:spPr>
          <a:xfrm>
            <a:off x="457200" y="2286000"/>
            <a:ext cx="1371600" cy="137041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3" name="Google Shape;93;p17"/>
          <p:cNvSpPr txBox="1"/>
          <p:nvPr>
            <p:ph idx="3" type="body"/>
          </p:nvPr>
        </p:nvSpPr>
        <p:spPr>
          <a:xfrm>
            <a:off x="2133600" y="2571750"/>
            <a:ext cx="624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0F7DC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4" type="body"/>
          </p:nvPr>
        </p:nvSpPr>
        <p:spPr>
          <a:xfrm>
            <a:off x="2133600" y="3028950"/>
            <a:ext cx="632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5" type="body"/>
          </p:nvPr>
        </p:nvSpPr>
        <p:spPr>
          <a:xfrm>
            <a:off x="2133600" y="2286000"/>
            <a:ext cx="624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7"/>
          <p:cNvSpPr txBox="1"/>
          <p:nvPr/>
        </p:nvSpPr>
        <p:spPr>
          <a:xfrm>
            <a:off x="2133600" y="3943350"/>
            <a:ext cx="2133600" cy="253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www.wtiie.pbs.edu.pl</a:t>
            </a:r>
            <a:endParaRPr b="1" sz="1600">
              <a:solidFill>
                <a:srgbClr val="0F7D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braz zawierający rysunek  Opis wygenerowany automatycznie" id="97" name="Google Shape;9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1" y="4686300"/>
            <a:ext cx="146780" cy="1467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raz zawierający rysunek  Opis wygenerowany automatycznie"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4686300"/>
            <a:ext cx="198008" cy="138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1" y="4686300"/>
            <a:ext cx="171450" cy="137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4507" y="4686300"/>
            <a:ext cx="141913" cy="1419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775697" y="4679693"/>
            <a:ext cx="94401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pbs.bydgoszcz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2176907" y="4679693"/>
            <a:ext cx="14478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politechnika.bydgoska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962401" y="4686300"/>
            <a:ext cx="106679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@Pol_Bydgoska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5485328" y="4686300"/>
            <a:ext cx="1372672" cy="184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Politechnika Bydgoska</a:t>
            </a:r>
            <a:endParaRPr/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86600" y="4686300"/>
            <a:ext cx="141920" cy="14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7272411" y="4686300"/>
            <a:ext cx="164298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politechnikabydgoska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 txBox="1"/>
          <p:nvPr>
            <p:ph idx="6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7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7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111" name="Google Shape;11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114" name="Google Shape;11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ytułowa 1">
  <p:cSld name="PBŚ Tytułowa 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BS WTIiE logo main PPT.png" id="116" name="Google Shape;11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00" y="285750"/>
            <a:ext cx="2904363" cy="1351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>
            <p:ph idx="2" type="pic"/>
          </p:nvPr>
        </p:nvSpPr>
        <p:spPr>
          <a:xfrm>
            <a:off x="3357924" y="-4959"/>
            <a:ext cx="5500873" cy="5155044"/>
          </a:xfrm>
          <a:prstGeom prst="rect">
            <a:avLst/>
          </a:prstGeom>
          <a:solidFill>
            <a:srgbClr val="0F7DC1"/>
          </a:solidFill>
          <a:ln>
            <a:noFill/>
          </a:ln>
        </p:spPr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533400" y="2000250"/>
            <a:ext cx="3962400" cy="804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0F7DC1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533400" y="2971800"/>
            <a:ext cx="3962400" cy="1351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609600" y="4572000"/>
            <a:ext cx="1828800" cy="311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820E2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053A98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53A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18"/>
          <p:cNvSpPr/>
          <p:nvPr/>
        </p:nvSpPr>
        <p:spPr>
          <a:xfrm>
            <a:off x="8843818" y="0"/>
            <a:ext cx="304800" cy="5143500"/>
          </a:xfrm>
          <a:prstGeom prst="rect">
            <a:avLst/>
          </a:prstGeom>
          <a:solidFill>
            <a:srgbClr val="830E2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ytuł rozdziału 1">
  <p:cSld name="PBŚ Tytuł rozdziału 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1638300" y="1314450"/>
            <a:ext cx="701063" cy="902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" sz="4800">
                <a:solidFill>
                  <a:srgbClr val="0F7D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4800">
              <a:solidFill>
                <a:srgbClr val="0F7D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2438400" y="1649015"/>
            <a:ext cx="5943600" cy="2751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19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>
            <p:ph idx="2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19"/>
          <p:cNvSpPr txBox="1"/>
          <p:nvPr>
            <p:ph idx="3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9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129" name="Google Shape;12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ytuł rozdziału 2">
  <p:cSld name="PBŚ Tytuł rozdziału 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 rot="10800000">
            <a:off x="-12700" y="1489995"/>
            <a:ext cx="2268684" cy="2211135"/>
          </a:xfrm>
          <a:custGeom>
            <a:rect b="b" l="l" r="r" t="t"/>
            <a:pathLst>
              <a:path extrusionOk="0" h="6857998" w="5277368">
                <a:moveTo>
                  <a:pt x="1980653" y="-1"/>
                </a:moveTo>
                <a:lnTo>
                  <a:pt x="0" y="3430586"/>
                </a:lnTo>
                <a:lnTo>
                  <a:pt x="1978825" y="6857999"/>
                </a:lnTo>
                <a:lnTo>
                  <a:pt x="5277368" y="6841157"/>
                </a:lnTo>
                <a:lnTo>
                  <a:pt x="5247825" y="16841"/>
                </a:lnTo>
                <a:lnTo>
                  <a:pt x="1980653" y="-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830E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990600" y="2000250"/>
            <a:ext cx="701063" cy="902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4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2438400" y="2286000"/>
            <a:ext cx="58674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20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 txBox="1"/>
          <p:nvPr>
            <p:ph idx="2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0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141" name="Google Shape;14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144" name="Google Shape;1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ytuł + tekst 2">
  <p:cSld name="PBŚ Tytuł + tekst 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609600" y="2743200"/>
            <a:ext cx="3733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0F7DC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2" type="body"/>
          </p:nvPr>
        </p:nvSpPr>
        <p:spPr>
          <a:xfrm>
            <a:off x="609600" y="1371600"/>
            <a:ext cx="77724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3" type="body"/>
          </p:nvPr>
        </p:nvSpPr>
        <p:spPr>
          <a:xfrm>
            <a:off x="4648200" y="2743200"/>
            <a:ext cx="3733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0F7DC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1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 txBox="1"/>
          <p:nvPr>
            <p:ph idx="4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1"/>
          <p:cNvSpPr txBox="1"/>
          <p:nvPr>
            <p:ph idx="5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1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153" name="Google Shape;15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ekst">
  <p:cSld name="PBŚ Teks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609600" y="1028701"/>
            <a:ext cx="7772400" cy="3715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2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 txBox="1"/>
          <p:nvPr>
            <p:ph idx="2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idx="3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2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163" name="Google Shape;16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ytuł + lista">
  <p:cSld name="PBŚ Tytuł + lista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558799" y="1828800"/>
            <a:ext cx="7747001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2" type="body"/>
          </p:nvPr>
        </p:nvSpPr>
        <p:spPr>
          <a:xfrm>
            <a:off x="558800" y="1095375"/>
            <a:ext cx="7747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820E2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23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4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23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174" name="Google Shape;17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ytuł rozdziału + foto">
  <p:cSld name="PBŚ Tytuł rozdziału + foto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/>
        </p:nvSpPr>
        <p:spPr>
          <a:xfrm>
            <a:off x="533400" y="1544240"/>
            <a:ext cx="701063" cy="902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/>
          </a:p>
        </p:txBody>
      </p:sp>
      <p:sp>
        <p:nvSpPr>
          <p:cNvPr id="180" name="Google Shape;180;p24"/>
          <p:cNvSpPr/>
          <p:nvPr>
            <p:ph idx="2" type="pic"/>
          </p:nvPr>
        </p:nvSpPr>
        <p:spPr>
          <a:xfrm>
            <a:off x="5981173" y="734615"/>
            <a:ext cx="3162826" cy="4411266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533400" y="2514600"/>
            <a:ext cx="52578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24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4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p24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189" name="Google Shape;1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ekst + foto 1">
  <p:cSld name="PBŚ Tekst + foto 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/>
          <p:nvPr>
            <p:ph idx="2" type="pic"/>
          </p:nvPr>
        </p:nvSpPr>
        <p:spPr>
          <a:xfrm>
            <a:off x="4038600" y="1029890"/>
            <a:ext cx="5105400" cy="34861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381000" y="2458640"/>
            <a:ext cx="3429000" cy="2071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25"/>
          <p:cNvSpPr txBox="1"/>
          <p:nvPr>
            <p:ph idx="3" type="body"/>
          </p:nvPr>
        </p:nvSpPr>
        <p:spPr>
          <a:xfrm>
            <a:off x="381000" y="1487091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0F7DC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25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5"/>
          <p:cNvSpPr txBox="1"/>
          <p:nvPr>
            <p:ph idx="4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5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25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198" name="Google Shape;19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ekst + foto 2">
  <p:cSld name="PBŚ Tekst + foto 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/>
          <p:nvPr>
            <p:ph idx="2" type="pic"/>
          </p:nvPr>
        </p:nvSpPr>
        <p:spPr>
          <a:xfrm>
            <a:off x="3962400" y="2572940"/>
            <a:ext cx="5181600" cy="18859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457200" y="1210865"/>
            <a:ext cx="74676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rgbClr val="820E2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26"/>
          <p:cNvSpPr txBox="1"/>
          <p:nvPr>
            <p:ph idx="3" type="body"/>
          </p:nvPr>
        </p:nvSpPr>
        <p:spPr>
          <a:xfrm>
            <a:off x="457200" y="2572940"/>
            <a:ext cx="335280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26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 txBox="1"/>
          <p:nvPr>
            <p:ph idx="4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26"/>
          <p:cNvSpPr txBox="1"/>
          <p:nvPr>
            <p:ph idx="5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26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210" name="Google Shape;21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213" name="Google Shape;2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Tekst + duże foto">
  <p:cSld name="PBŚ Tekst + duże foto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/>
          <p:nvPr>
            <p:ph idx="2" type="pic"/>
          </p:nvPr>
        </p:nvSpPr>
        <p:spPr>
          <a:xfrm>
            <a:off x="4305" y="1028700"/>
            <a:ext cx="9139695" cy="29146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609600" y="422910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20"/>
              </a:spcBef>
              <a:spcAft>
                <a:spcPts val="0"/>
              </a:spcAft>
              <a:buClr>
                <a:srgbClr val="0F7DC1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3" type="body"/>
          </p:nvPr>
        </p:nvSpPr>
        <p:spPr>
          <a:xfrm>
            <a:off x="4724400" y="422910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27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 txBox="1"/>
          <p:nvPr>
            <p:ph idx="4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5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27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222" name="Google Shape;22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Ś 4x foto">
  <p:cSld name="PBŚ 4x foto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/>
          <p:nvPr>
            <p:ph idx="2" type="pic"/>
          </p:nvPr>
        </p:nvSpPr>
        <p:spPr>
          <a:xfrm>
            <a:off x="4652434" y="2914650"/>
            <a:ext cx="4504266" cy="17704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28" name="Google Shape;228;p28"/>
          <p:cNvSpPr/>
          <p:nvPr>
            <p:ph idx="3" type="pic"/>
          </p:nvPr>
        </p:nvSpPr>
        <p:spPr>
          <a:xfrm>
            <a:off x="-1" y="2914650"/>
            <a:ext cx="4495801" cy="17704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29" name="Google Shape;229;p28"/>
          <p:cNvSpPr/>
          <p:nvPr>
            <p:ph idx="4" type="pic"/>
          </p:nvPr>
        </p:nvSpPr>
        <p:spPr>
          <a:xfrm>
            <a:off x="4660491" y="1029889"/>
            <a:ext cx="4496209" cy="17704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" name="Google Shape;230;p28"/>
          <p:cNvSpPr/>
          <p:nvPr>
            <p:ph idx="5" type="pic"/>
          </p:nvPr>
        </p:nvSpPr>
        <p:spPr>
          <a:xfrm>
            <a:off x="-1" y="1029890"/>
            <a:ext cx="4495801" cy="177046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3657600" y="24003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rgbClr val="820E2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28"/>
          <p:cNvSpPr/>
          <p:nvPr/>
        </p:nvSpPr>
        <p:spPr>
          <a:xfrm>
            <a:off x="2092544" y="-1"/>
            <a:ext cx="5442036" cy="484077"/>
          </a:xfrm>
          <a:custGeom>
            <a:rect b="b" l="l" r="r" t="t"/>
            <a:pathLst>
              <a:path extrusionOk="0" h="645436" w="5442036">
                <a:moveTo>
                  <a:pt x="185966" y="1"/>
                </a:moveTo>
                <a:lnTo>
                  <a:pt x="0" y="322098"/>
                </a:lnTo>
                <a:lnTo>
                  <a:pt x="185966" y="644195"/>
                </a:lnTo>
                <a:lnTo>
                  <a:pt x="5442035" y="645436"/>
                </a:lnTo>
                <a:cubicBezTo>
                  <a:pt x="5442035" y="432116"/>
                  <a:pt x="5442036" y="213320"/>
                  <a:pt x="5442036" y="0"/>
                </a:cubicBezTo>
                <a:lnTo>
                  <a:pt x="185966" y="1"/>
                </a:lnTo>
              </a:path>
            </a:pathLst>
          </a:custGeom>
          <a:solidFill>
            <a:srgbClr val="0F7DC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8"/>
          <p:cNvSpPr txBox="1"/>
          <p:nvPr>
            <p:ph idx="6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8"/>
          <p:cNvSpPr txBox="1"/>
          <p:nvPr>
            <p:ph idx="7" type="body"/>
          </p:nvPr>
        </p:nvSpPr>
        <p:spPr>
          <a:xfrm>
            <a:off x="2438401" y="228600"/>
            <a:ext cx="4495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" name="Google Shape;235;p28"/>
          <p:cNvSpPr/>
          <p:nvPr/>
        </p:nvSpPr>
        <p:spPr>
          <a:xfrm>
            <a:off x="7010400" y="0"/>
            <a:ext cx="930055" cy="491357"/>
          </a:xfrm>
          <a:custGeom>
            <a:rect b="b" l="l" r="r" t="t"/>
            <a:pathLst>
              <a:path extrusionOk="0" h="655143" w="930055">
                <a:moveTo>
                  <a:pt x="185966" y="0"/>
                </a:moveTo>
                <a:lnTo>
                  <a:pt x="0" y="322097"/>
                </a:lnTo>
                <a:lnTo>
                  <a:pt x="191440" y="655143"/>
                </a:lnTo>
                <a:lnTo>
                  <a:pt x="930055" y="652661"/>
                </a:lnTo>
                <a:cubicBezTo>
                  <a:pt x="930055" y="439341"/>
                  <a:pt x="917356" y="213320"/>
                  <a:pt x="917356" y="0"/>
                </a:cubicBezTo>
                <a:lnTo>
                  <a:pt x="185966" y="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R logo common PPT2ok.png" id="236" name="Google Shape;23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6432" y="20004"/>
            <a:ext cx="665226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8"/>
          <p:cNvSpPr/>
          <p:nvPr/>
        </p:nvSpPr>
        <p:spPr>
          <a:xfrm>
            <a:off x="8213946" y="-3451"/>
            <a:ext cx="931160" cy="492947"/>
          </a:xfrm>
          <a:custGeom>
            <a:rect b="b" l="l" r="r" t="t"/>
            <a:pathLst>
              <a:path extrusionOk="0" h="657263" w="931160">
                <a:moveTo>
                  <a:pt x="185966" y="4602"/>
                </a:moveTo>
                <a:lnTo>
                  <a:pt x="0" y="326699"/>
                </a:lnTo>
                <a:lnTo>
                  <a:pt x="185966" y="648796"/>
                </a:lnTo>
                <a:lnTo>
                  <a:pt x="930055" y="657263"/>
                </a:lnTo>
                <a:cubicBezTo>
                  <a:pt x="930055" y="443943"/>
                  <a:pt x="931160" y="213320"/>
                  <a:pt x="931160" y="0"/>
                </a:cubicBezTo>
                <a:lnTo>
                  <a:pt x="185966" y="4602"/>
                </a:lnTo>
              </a:path>
            </a:pathLst>
          </a:custGeom>
          <a:solidFill>
            <a:srgbClr val="820E20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BS WTIiE logo common PPT2.png" id="239" name="Google Shape;23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1450467" cy="67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/>
          <p:nvPr/>
        </p:nvSpPr>
        <p:spPr>
          <a:xfrm>
            <a:off x="4198313" y="0"/>
            <a:ext cx="4945687" cy="5143500"/>
          </a:xfrm>
          <a:prstGeom prst="rect">
            <a:avLst/>
          </a:prstGeom>
          <a:solidFill>
            <a:srgbClr val="0F7DC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29"/>
          <p:cNvCxnSpPr/>
          <p:nvPr/>
        </p:nvCxnSpPr>
        <p:spPr>
          <a:xfrm flipH="1" rot="10800000">
            <a:off x="4980000" y="975000"/>
            <a:ext cx="1500000" cy="39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29"/>
          <p:cNvCxnSpPr/>
          <p:nvPr/>
        </p:nvCxnSpPr>
        <p:spPr>
          <a:xfrm>
            <a:off x="4980000" y="1365000"/>
            <a:ext cx="1500000" cy="397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29"/>
          <p:cNvCxnSpPr/>
          <p:nvPr/>
        </p:nvCxnSpPr>
        <p:spPr>
          <a:xfrm>
            <a:off x="4980000" y="1365000"/>
            <a:ext cx="1500000" cy="1185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29"/>
          <p:cNvCxnSpPr/>
          <p:nvPr/>
        </p:nvCxnSpPr>
        <p:spPr>
          <a:xfrm>
            <a:off x="4980000" y="1365000"/>
            <a:ext cx="1500000" cy="1972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29"/>
          <p:cNvCxnSpPr/>
          <p:nvPr/>
        </p:nvCxnSpPr>
        <p:spPr>
          <a:xfrm>
            <a:off x="4980000" y="1365000"/>
            <a:ext cx="1500000" cy="276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29"/>
          <p:cNvCxnSpPr/>
          <p:nvPr/>
        </p:nvCxnSpPr>
        <p:spPr>
          <a:xfrm flipH="1" rot="10800000">
            <a:off x="4980000" y="975000"/>
            <a:ext cx="1500000" cy="117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29"/>
          <p:cNvCxnSpPr/>
          <p:nvPr/>
        </p:nvCxnSpPr>
        <p:spPr>
          <a:xfrm flipH="1" rot="10800000">
            <a:off x="4980000" y="1762500"/>
            <a:ext cx="1500000" cy="382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29"/>
          <p:cNvCxnSpPr/>
          <p:nvPr/>
        </p:nvCxnSpPr>
        <p:spPr>
          <a:xfrm>
            <a:off x="4980000" y="2145000"/>
            <a:ext cx="1500000" cy="405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29"/>
          <p:cNvCxnSpPr/>
          <p:nvPr/>
        </p:nvCxnSpPr>
        <p:spPr>
          <a:xfrm>
            <a:off x="4980000" y="2145000"/>
            <a:ext cx="1500000" cy="1192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29"/>
          <p:cNvCxnSpPr/>
          <p:nvPr/>
        </p:nvCxnSpPr>
        <p:spPr>
          <a:xfrm>
            <a:off x="4980000" y="2145000"/>
            <a:ext cx="1500000" cy="198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9"/>
          <p:cNvCxnSpPr/>
          <p:nvPr/>
        </p:nvCxnSpPr>
        <p:spPr>
          <a:xfrm flipH="1" rot="10800000">
            <a:off x="4980000" y="975000"/>
            <a:ext cx="1500000" cy="195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29"/>
          <p:cNvCxnSpPr/>
          <p:nvPr/>
        </p:nvCxnSpPr>
        <p:spPr>
          <a:xfrm flipH="1" rot="10800000">
            <a:off x="4980000" y="1762500"/>
            <a:ext cx="1500000" cy="1162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29"/>
          <p:cNvCxnSpPr/>
          <p:nvPr/>
        </p:nvCxnSpPr>
        <p:spPr>
          <a:xfrm flipH="1" rot="10800000">
            <a:off x="4980000" y="2550000"/>
            <a:ext cx="1500000" cy="375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9"/>
          <p:cNvCxnSpPr/>
          <p:nvPr/>
        </p:nvCxnSpPr>
        <p:spPr>
          <a:xfrm>
            <a:off x="4980000" y="2925000"/>
            <a:ext cx="1500000" cy="412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9"/>
          <p:cNvCxnSpPr/>
          <p:nvPr/>
        </p:nvCxnSpPr>
        <p:spPr>
          <a:xfrm>
            <a:off x="4980000" y="2925000"/>
            <a:ext cx="1500000" cy="120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29"/>
          <p:cNvCxnSpPr/>
          <p:nvPr/>
        </p:nvCxnSpPr>
        <p:spPr>
          <a:xfrm flipH="1" rot="10800000">
            <a:off x="4980000" y="975000"/>
            <a:ext cx="1500000" cy="273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29"/>
          <p:cNvCxnSpPr/>
          <p:nvPr/>
        </p:nvCxnSpPr>
        <p:spPr>
          <a:xfrm flipH="1" rot="10800000">
            <a:off x="4980000" y="1762500"/>
            <a:ext cx="1500000" cy="1942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29"/>
          <p:cNvCxnSpPr/>
          <p:nvPr/>
        </p:nvCxnSpPr>
        <p:spPr>
          <a:xfrm flipH="1" rot="10800000">
            <a:off x="4980000" y="2550000"/>
            <a:ext cx="1500000" cy="1155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29"/>
          <p:cNvCxnSpPr/>
          <p:nvPr/>
        </p:nvCxnSpPr>
        <p:spPr>
          <a:xfrm flipH="1" rot="10800000">
            <a:off x="4980000" y="3337500"/>
            <a:ext cx="1500000" cy="367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29"/>
          <p:cNvCxnSpPr/>
          <p:nvPr/>
        </p:nvCxnSpPr>
        <p:spPr>
          <a:xfrm>
            <a:off x="4980000" y="3705000"/>
            <a:ext cx="1500000" cy="42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29"/>
          <p:cNvCxnSpPr/>
          <p:nvPr/>
        </p:nvCxnSpPr>
        <p:spPr>
          <a:xfrm>
            <a:off x="6480000" y="975000"/>
            <a:ext cx="1500000" cy="117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9"/>
          <p:cNvCxnSpPr/>
          <p:nvPr/>
        </p:nvCxnSpPr>
        <p:spPr>
          <a:xfrm>
            <a:off x="6480000" y="975000"/>
            <a:ext cx="1500000" cy="2325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29"/>
          <p:cNvCxnSpPr/>
          <p:nvPr/>
        </p:nvCxnSpPr>
        <p:spPr>
          <a:xfrm>
            <a:off x="6480000" y="1762500"/>
            <a:ext cx="1500000" cy="382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29"/>
          <p:cNvCxnSpPr/>
          <p:nvPr/>
        </p:nvCxnSpPr>
        <p:spPr>
          <a:xfrm>
            <a:off x="6480000" y="1762500"/>
            <a:ext cx="1500000" cy="1537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29"/>
          <p:cNvCxnSpPr/>
          <p:nvPr/>
        </p:nvCxnSpPr>
        <p:spPr>
          <a:xfrm flipH="1" rot="10800000">
            <a:off x="6480000" y="2145000"/>
            <a:ext cx="1500000" cy="405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9"/>
          <p:cNvCxnSpPr/>
          <p:nvPr/>
        </p:nvCxnSpPr>
        <p:spPr>
          <a:xfrm>
            <a:off x="6480000" y="2550000"/>
            <a:ext cx="1500000" cy="75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9"/>
          <p:cNvCxnSpPr/>
          <p:nvPr/>
        </p:nvCxnSpPr>
        <p:spPr>
          <a:xfrm flipH="1" rot="10800000">
            <a:off x="6480000" y="2145000"/>
            <a:ext cx="1500000" cy="1192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9"/>
          <p:cNvCxnSpPr/>
          <p:nvPr/>
        </p:nvCxnSpPr>
        <p:spPr>
          <a:xfrm flipH="1" rot="10800000">
            <a:off x="6480000" y="3300000"/>
            <a:ext cx="1500000" cy="37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9"/>
          <p:cNvCxnSpPr/>
          <p:nvPr/>
        </p:nvCxnSpPr>
        <p:spPr>
          <a:xfrm flipH="1" rot="10800000">
            <a:off x="6480000" y="2145000"/>
            <a:ext cx="1500000" cy="1980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29"/>
          <p:cNvCxnSpPr/>
          <p:nvPr/>
        </p:nvCxnSpPr>
        <p:spPr>
          <a:xfrm flipH="1" rot="10800000">
            <a:off x="6480000" y="3300000"/>
            <a:ext cx="1500000" cy="8250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29"/>
          <p:cNvSpPr/>
          <p:nvPr/>
        </p:nvSpPr>
        <p:spPr>
          <a:xfrm>
            <a:off x="4850000" y="12675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9"/>
          <p:cNvSpPr/>
          <p:nvPr/>
        </p:nvSpPr>
        <p:spPr>
          <a:xfrm>
            <a:off x="4850000" y="20475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4850000" y="28275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9"/>
          <p:cNvSpPr/>
          <p:nvPr/>
        </p:nvSpPr>
        <p:spPr>
          <a:xfrm>
            <a:off x="4850000" y="36075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6350000" y="8775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6350000" y="16650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6350000" y="24525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6350000" y="32400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6350000" y="40275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7850000" y="2047500"/>
            <a:ext cx="260000" cy="195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7850000" y="3202500"/>
            <a:ext cx="260000" cy="1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4400000" y="4537500"/>
            <a:ext cx="4300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 txBox="1"/>
          <p:nvPr>
            <p:ph idx="3" type="body"/>
          </p:nvPr>
        </p:nvSpPr>
        <p:spPr>
          <a:xfrm>
            <a:off x="533400" y="1612500"/>
            <a:ext cx="35200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5E8F"/>
              </a:buClr>
              <a:buSzPts val="2600"/>
              <a:buNone/>
            </a:pPr>
            <a:r>
              <a:rPr b="1" lang="en" sz="2600">
                <a:solidFill>
                  <a:srgbClr val="0C5E8F"/>
                </a:solidFill>
              </a:rPr>
              <a:t>Klasyfikacja wiarygodności artykułów prasowych</a:t>
            </a:r>
            <a:endParaRPr/>
          </a:p>
        </p:txBody>
      </p:sp>
      <p:sp>
        <p:nvSpPr>
          <p:cNvPr id="288" name="Google Shape;288;p29"/>
          <p:cNvSpPr txBox="1"/>
          <p:nvPr>
            <p:ph idx="4" type="body"/>
          </p:nvPr>
        </p:nvSpPr>
        <p:spPr>
          <a:xfrm>
            <a:off x="533400" y="3000000"/>
            <a:ext cx="352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</a:pPr>
            <a:r>
              <a:rPr lang="en" sz="1500">
                <a:solidFill>
                  <a:srgbClr val="000000"/>
                </a:solidFill>
              </a:rPr>
              <a:t>Głębokie sieci neuronowe - BiLSTM + Attention</a:t>
            </a:r>
            <a:endParaRPr/>
          </a:p>
          <a:p>
            <a:pPr indent="0" lvl="0" marL="0" rtl="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rgbClr val="820E20"/>
              </a:buClr>
              <a:buSzPts val="1500"/>
              <a:buNone/>
            </a:pPr>
            <a:r>
              <a:rPr b="1" lang="en" sz="1500">
                <a:solidFill>
                  <a:srgbClr val="820E20"/>
                </a:solidFill>
              </a:rPr>
              <a:t>Aleksander Oleszkiewicz</a:t>
            </a:r>
            <a:endParaRPr/>
          </a:p>
        </p:txBody>
      </p:sp>
      <p:sp>
        <p:nvSpPr>
          <p:cNvPr id="289" name="Google Shape;289;p29"/>
          <p:cNvSpPr txBox="1"/>
          <p:nvPr>
            <p:ph idx="1" type="body"/>
          </p:nvPr>
        </p:nvSpPr>
        <p:spPr>
          <a:xfrm>
            <a:off x="533400" y="4572000"/>
            <a:ext cx="3520000" cy="311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20E20"/>
              </a:buClr>
              <a:buSzPts val="1400"/>
              <a:buNone/>
            </a:pPr>
            <a:r>
              <a:rPr lang="en"/>
              <a:t>Promotor: mgr inż. Gracjan Kątek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>
            <p:ph idx="13" type="body"/>
          </p:nvPr>
        </p:nvSpPr>
        <p:spPr>
          <a:xfrm>
            <a:off x="2438400" y="1371600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1. Cel projektu</a:t>
            </a:r>
            <a:endParaRPr/>
          </a:p>
        </p:txBody>
      </p:sp>
      <p:sp>
        <p:nvSpPr>
          <p:cNvPr id="295" name="Google Shape;295;p30"/>
          <p:cNvSpPr txBox="1"/>
          <p:nvPr>
            <p:ph idx="9" type="body"/>
          </p:nvPr>
        </p:nvSpPr>
        <p:spPr>
          <a:xfrm>
            <a:off x="2438400" y="1695866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2. Zbiór danych</a:t>
            </a:r>
            <a:endParaRPr/>
          </a:p>
        </p:txBody>
      </p:sp>
      <p:sp>
        <p:nvSpPr>
          <p:cNvPr id="296" name="Google Shape;296;p30"/>
          <p:cNvSpPr txBox="1"/>
          <p:nvPr>
            <p:ph idx="8" type="body"/>
          </p:nvPr>
        </p:nvSpPr>
        <p:spPr>
          <a:xfrm>
            <a:off x="2438400" y="2015603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3. Architektura modelu</a:t>
            </a:r>
            <a:endParaRPr/>
          </a:p>
        </p:txBody>
      </p:sp>
      <p:sp>
        <p:nvSpPr>
          <p:cNvPr id="297" name="Google Shape;297;p30"/>
          <p:cNvSpPr txBox="1"/>
          <p:nvPr>
            <p:ph idx="1" type="body"/>
          </p:nvPr>
        </p:nvSpPr>
        <p:spPr>
          <a:xfrm>
            <a:off x="2438400" y="2338361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4. Metryki ewaluacji</a:t>
            </a:r>
            <a:endParaRPr/>
          </a:p>
        </p:txBody>
      </p:sp>
      <p:sp>
        <p:nvSpPr>
          <p:cNvPr id="298" name="Google Shape;298;p30"/>
          <p:cNvSpPr txBox="1"/>
          <p:nvPr>
            <p:ph idx="2" type="body"/>
          </p:nvPr>
        </p:nvSpPr>
        <p:spPr>
          <a:xfrm>
            <a:off x="2438400" y="2661415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5. Narzędzia i technologie</a:t>
            </a:r>
            <a:endParaRPr/>
          </a:p>
        </p:txBody>
      </p:sp>
      <p:sp>
        <p:nvSpPr>
          <p:cNvPr id="299" name="Google Shape;299;p30"/>
          <p:cNvSpPr txBox="1"/>
          <p:nvPr>
            <p:ph idx="3" type="body"/>
          </p:nvPr>
        </p:nvSpPr>
        <p:spPr>
          <a:xfrm>
            <a:off x="2438400" y="2982506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6. Architektura aplikacji</a:t>
            </a:r>
            <a:endParaRPr/>
          </a:p>
        </p:txBody>
      </p:sp>
      <p:sp>
        <p:nvSpPr>
          <p:cNvPr id="300" name="Google Shape;300;p30"/>
          <p:cNvSpPr txBox="1"/>
          <p:nvPr>
            <p:ph idx="4" type="body"/>
          </p:nvPr>
        </p:nvSpPr>
        <p:spPr>
          <a:xfrm>
            <a:off x="2438400" y="3308489"/>
            <a:ext cx="5943600" cy="31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7. Warstwy aplikacji - szczegóły</a:t>
            </a:r>
            <a:endParaRPr/>
          </a:p>
        </p:txBody>
      </p:sp>
      <p:sp>
        <p:nvSpPr>
          <p:cNvPr id="301" name="Google Shape;301;p30"/>
          <p:cNvSpPr txBox="1"/>
          <p:nvPr>
            <p:ph idx="14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302" name="Google Shape;302;p30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idx="2" type="body"/>
          </p:nvPr>
        </p:nvSpPr>
        <p:spPr>
          <a:xfrm>
            <a:off x="533400" y="547500"/>
            <a:ext cx="78486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3600"/>
              <a:buNone/>
            </a:pPr>
            <a:r>
              <a:rPr lang="en"/>
              <a:t>Cel projektu</a:t>
            </a:r>
            <a:endParaRPr/>
          </a:p>
        </p:txBody>
      </p:sp>
      <p:sp>
        <p:nvSpPr>
          <p:cNvPr id="308" name="Google Shape;308;p31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309" name="Google Shape;309;p31"/>
          <p:cNvSpPr/>
          <p:nvPr/>
        </p:nvSpPr>
        <p:spPr>
          <a:xfrm>
            <a:off x="533400" y="1365000"/>
            <a:ext cx="620000" cy="465000"/>
          </a:xfrm>
          <a:prstGeom prst="ellipse">
            <a:avLst/>
          </a:prstGeom>
          <a:solidFill>
            <a:srgbClr val="0F7D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0" name="Google Shape;310;p31"/>
          <p:cNvSpPr/>
          <p:nvPr/>
        </p:nvSpPr>
        <p:spPr>
          <a:xfrm>
            <a:off x="1340000" y="1327500"/>
            <a:ext cx="70420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Co budujemy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głębokiej sieci neuronowej do binarnej klasyfikacji artykułów prasowych: wiarygodne (real) lub niewiarygodne (fake).</a:t>
            </a: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533400" y="2340000"/>
            <a:ext cx="620000" cy="465000"/>
          </a:xfrm>
          <a:prstGeom prst="ellipse">
            <a:avLst/>
          </a:prstGeom>
          <a:solidFill>
            <a:srgbClr val="0F7D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>
            <a:off x="1340000" y="2302500"/>
            <a:ext cx="70420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Dlaczego BiLSTM + Attention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Dwukierunkowy LSTM analizuje kontekst zdania z obu stron, a warstwa attention wazy, które słowa sa najistotniejsze dla decyzji.</a:t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533400" y="3315000"/>
            <a:ext cx="620100" cy="465000"/>
          </a:xfrm>
          <a:prstGeom prst="ellipse">
            <a:avLst/>
          </a:prstGeom>
          <a:solidFill>
            <a:srgbClr val="820E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4" name="Google Shape;314;p31"/>
          <p:cNvSpPr/>
          <p:nvPr/>
        </p:nvSpPr>
        <p:spPr>
          <a:xfrm>
            <a:off x="1340000" y="3277500"/>
            <a:ext cx="70420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rPr>
              <a:t>Wyjasnialnosc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Wagi mechanizmu uwagi wskazują fragmenty tekstu o największym wpływie na predykcje.</a:t>
            </a:r>
            <a:endParaRPr/>
          </a:p>
        </p:txBody>
      </p:sp>
      <p:sp>
        <p:nvSpPr>
          <p:cNvPr id="315" name="Google Shape;315;p31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/>
          <p:nvPr>
            <p:ph idx="2" type="body"/>
          </p:nvPr>
        </p:nvSpPr>
        <p:spPr>
          <a:xfrm>
            <a:off x="533400" y="547500"/>
            <a:ext cx="78486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3600"/>
              <a:buNone/>
            </a:pPr>
            <a:r>
              <a:rPr lang="en"/>
              <a:t>Zbiór danych</a:t>
            </a:r>
            <a:endParaRPr/>
          </a:p>
        </p:txBody>
      </p:sp>
      <p:sp>
        <p:nvSpPr>
          <p:cNvPr id="321" name="Google Shape;321;p32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533400" y="1335000"/>
            <a:ext cx="2416200" cy="1087500"/>
          </a:xfrm>
          <a:prstGeom prst="roundRect">
            <a:avLst>
              <a:gd fmla="val 8000" name="adj"/>
            </a:avLst>
          </a:prstGeom>
          <a:solidFill>
            <a:srgbClr val="0F7D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38 475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artykułów po czyszczeniu</a:t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3249600" y="1335000"/>
            <a:ext cx="2416200" cy="1087500"/>
          </a:xfrm>
          <a:prstGeom prst="roundRect">
            <a:avLst>
              <a:gd fmla="val 8000" name="adj"/>
            </a:avLst>
          </a:prstGeom>
          <a:solidFill>
            <a:srgbClr val="820E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~50/50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balans klas (real / fake)</a:t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5965800" y="1335000"/>
            <a:ext cx="2416200" cy="1087500"/>
          </a:xfrm>
          <a:prstGeom prst="roundRect">
            <a:avLst>
              <a:gd fmla="val 8000" name="adj"/>
            </a:avLst>
          </a:prstGeom>
          <a:solidFill>
            <a:srgbClr val="0C5E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klasy: 1 = fake, 0 = real</a:t>
            </a: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533400" y="2625000"/>
            <a:ext cx="78486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Źródło: 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Kaggle: clmentbisaillon/fake-and-real-news-dataset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Kolumny: 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(tresc artykulu) oraz label (1 = fake, 0 = real)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Charakterystyka: 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zbiór w przyblizeniu zbalansowany, oczyszczony z duplikatów i pustych rekordów.</a:t>
            </a:r>
            <a:endParaRPr/>
          </a:p>
        </p:txBody>
      </p:sp>
      <p:sp>
        <p:nvSpPr>
          <p:cNvPr id="326" name="Google Shape;326;p32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/>
          <p:nvPr>
            <p:ph idx="2" type="body"/>
          </p:nvPr>
        </p:nvSpPr>
        <p:spPr>
          <a:xfrm>
            <a:off x="533400" y="547500"/>
            <a:ext cx="78486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3600"/>
              <a:buNone/>
            </a:pPr>
            <a:r>
              <a:rPr lang="en"/>
              <a:t>Architektura modelu</a:t>
            </a:r>
            <a:endParaRPr/>
          </a:p>
        </p:txBody>
      </p:sp>
      <p:sp>
        <p:nvSpPr>
          <p:cNvPr id="332" name="Google Shape;332;p33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333" name="Google Shape;333;p33"/>
          <p:cNvSpPr/>
          <p:nvPr/>
        </p:nvSpPr>
        <p:spPr>
          <a:xfrm>
            <a:off x="533400" y="1537500"/>
            <a:ext cx="1300000" cy="810000"/>
          </a:xfrm>
          <a:prstGeom prst="roundRect">
            <a:avLst>
              <a:gd fmla="val 9000" name="adj"/>
            </a:avLst>
          </a:prstGeom>
          <a:solidFill>
            <a:srgbClr val="0F7D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Tekst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artykuł wejściowy</a:t>
            </a:r>
            <a:endParaRPr/>
          </a:p>
        </p:txBody>
      </p:sp>
      <p:sp>
        <p:nvSpPr>
          <p:cNvPr id="334" name="Google Shape;334;p33"/>
          <p:cNvSpPr/>
          <p:nvPr/>
        </p:nvSpPr>
        <p:spPr>
          <a:xfrm>
            <a:off x="2170400" y="1537500"/>
            <a:ext cx="1300000" cy="810000"/>
          </a:xfrm>
          <a:prstGeom prst="roundRect">
            <a:avLst>
              <a:gd fmla="val 9000" name="adj"/>
            </a:avLst>
          </a:prstGeom>
          <a:solidFill>
            <a:srgbClr val="0F7D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Tokenizacja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podział na tokeny</a:t>
            </a:r>
            <a:endParaRPr/>
          </a:p>
        </p:txBody>
      </p:sp>
      <p:sp>
        <p:nvSpPr>
          <p:cNvPr id="335" name="Google Shape;335;p33"/>
          <p:cNvSpPr/>
          <p:nvPr/>
        </p:nvSpPr>
        <p:spPr>
          <a:xfrm>
            <a:off x="3807400" y="1537500"/>
            <a:ext cx="1300000" cy="810000"/>
          </a:xfrm>
          <a:prstGeom prst="roundRect">
            <a:avLst>
              <a:gd fmla="val 9000" name="adj"/>
            </a:avLst>
          </a:prstGeom>
          <a:solidFill>
            <a:srgbClr val="0F7D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GloVe 300d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embeddingi słów</a:t>
            </a:r>
            <a:endParaRPr/>
          </a:p>
        </p:txBody>
      </p:sp>
      <p:sp>
        <p:nvSpPr>
          <p:cNvPr id="336" name="Google Shape;336;p33"/>
          <p:cNvSpPr/>
          <p:nvPr/>
        </p:nvSpPr>
        <p:spPr>
          <a:xfrm>
            <a:off x="5444400" y="1537500"/>
            <a:ext cx="1300000" cy="810000"/>
          </a:xfrm>
          <a:prstGeom prst="roundRect">
            <a:avLst>
              <a:gd fmla="val 9000" name="adj"/>
            </a:avLst>
          </a:prstGeom>
          <a:solidFill>
            <a:srgbClr val="0C5E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BiLSTM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 dwukierunkowy</a:t>
            </a:r>
            <a:endParaRPr/>
          </a:p>
        </p:txBody>
      </p:sp>
      <p:sp>
        <p:nvSpPr>
          <p:cNvPr id="337" name="Google Shape;337;p33"/>
          <p:cNvSpPr/>
          <p:nvPr/>
        </p:nvSpPr>
        <p:spPr>
          <a:xfrm>
            <a:off x="7081400" y="1537500"/>
            <a:ext cx="1300000" cy="810000"/>
          </a:xfrm>
          <a:prstGeom prst="roundRect">
            <a:avLst>
              <a:gd fmla="val 9000" name="adj"/>
            </a:avLst>
          </a:prstGeom>
          <a:solidFill>
            <a:srgbClr val="820E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ważenie słów</a:t>
            </a:r>
            <a:endParaRPr/>
          </a:p>
        </p:txBody>
      </p:sp>
      <p:sp>
        <p:nvSpPr>
          <p:cNvPr id="338" name="Google Shape;338;p33"/>
          <p:cNvSpPr/>
          <p:nvPr/>
        </p:nvSpPr>
        <p:spPr>
          <a:xfrm>
            <a:off x="1851900" y="1852500"/>
            <a:ext cx="3000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7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3488900" y="1852500"/>
            <a:ext cx="3000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7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5125900" y="1852500"/>
            <a:ext cx="3000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7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3"/>
          <p:cNvSpPr/>
          <p:nvPr/>
        </p:nvSpPr>
        <p:spPr>
          <a:xfrm>
            <a:off x="6762900" y="1852500"/>
            <a:ext cx="3000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7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3"/>
          <p:cNvSpPr/>
          <p:nvPr/>
        </p:nvSpPr>
        <p:spPr>
          <a:xfrm>
            <a:off x="7591400" y="2385000"/>
            <a:ext cx="280000" cy="21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AA7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533400" y="2685000"/>
            <a:ext cx="7848600" cy="585000"/>
          </a:xfrm>
          <a:prstGeom prst="roundRect">
            <a:avLst>
              <a:gd fmla="val 12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C5E8F"/>
                </a:solidFill>
                <a:latin typeface="Calibri"/>
                <a:ea typeface="Calibri"/>
                <a:cs typeface="Calibri"/>
                <a:sym typeface="Calibri"/>
              </a:rPr>
              <a:t>Klasyfikator: warstwa w pełni połączona + sigmoid  →  real / fake</a:t>
            </a:r>
            <a:endParaRPr/>
          </a:p>
        </p:txBody>
      </p:sp>
      <p:sp>
        <p:nvSpPr>
          <p:cNvPr id="344" name="Google Shape;344;p33"/>
          <p:cNvSpPr/>
          <p:nvPr/>
        </p:nvSpPr>
        <p:spPr>
          <a:xfrm>
            <a:off x="533400" y="3390000"/>
            <a:ext cx="78486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Embeddingi: 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pretrenowane wektory GloVe 300d.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Warstwy ukryte: 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aktywacja ReLU / Leaky ReLU; klasyfikator binarny z wyjsciem sigmoid.</a:t>
            </a:r>
            <a:endParaRPr/>
          </a:p>
        </p:txBody>
      </p:sp>
      <p:sp>
        <p:nvSpPr>
          <p:cNvPr id="345" name="Google Shape;345;p33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>
            <p:ph idx="2" type="body"/>
          </p:nvPr>
        </p:nvSpPr>
        <p:spPr>
          <a:xfrm>
            <a:off x="533400" y="547500"/>
            <a:ext cx="78486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3600"/>
              <a:buNone/>
            </a:pPr>
            <a:r>
              <a:rPr lang="en"/>
              <a:t>Metryki ewaluacji</a:t>
            </a:r>
            <a:endParaRPr/>
          </a:p>
        </p:txBody>
      </p:sp>
      <p:sp>
        <p:nvSpPr>
          <p:cNvPr id="351" name="Google Shape;351;p34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352" name="Google Shape;352;p34"/>
          <p:cNvSpPr/>
          <p:nvPr/>
        </p:nvSpPr>
        <p:spPr>
          <a:xfrm>
            <a:off x="533400" y="1387500"/>
            <a:ext cx="3700000" cy="1125000"/>
          </a:xfrm>
          <a:prstGeom prst="roundRect">
            <a:avLst>
              <a:gd fmla="val 6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ctr" bIns="45700" lIns="180000" spcFirstLastPara="1" rIns="180000" wrap="square" tIns="14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Odsetek poprawnie sklasyfikowanych artykułów w całym zbiorze.</a:t>
            </a: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4683400" y="1387500"/>
            <a:ext cx="3700000" cy="1125000"/>
          </a:xfrm>
          <a:prstGeom prst="roundRect">
            <a:avLst>
              <a:gd fmla="val 6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ctr" bIns="45700" lIns="180000" spcFirstLastPara="1" rIns="180000" wrap="square" tIns="14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Precision / Recall / F1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Jakość predykcji per klasa - odporna na niezbalansowanie danych.</a:t>
            </a:r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533400" y="2662500"/>
            <a:ext cx="3700000" cy="1125000"/>
          </a:xfrm>
          <a:prstGeom prst="roundRect">
            <a:avLst>
              <a:gd fmla="val 6000" name="adj"/>
            </a:avLst>
          </a:prstGeom>
          <a:solidFill>
            <a:srgbClr val="F2E3E6"/>
          </a:solidFill>
          <a:ln>
            <a:noFill/>
          </a:ln>
        </p:spPr>
        <p:txBody>
          <a:bodyPr anchorCtr="0" anchor="ctr" bIns="45700" lIns="180000" spcFirstLastPara="1" rIns="180000" wrap="square" tIns="14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rPr>
              <a:t>Macierz pomyłek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Rozkład TP / TN / FP / FN - rodzaje popełnianych błędów.</a:t>
            </a:r>
            <a:endParaRPr/>
          </a:p>
        </p:txBody>
      </p:sp>
      <p:sp>
        <p:nvSpPr>
          <p:cNvPr id="355" name="Google Shape;355;p34"/>
          <p:cNvSpPr/>
          <p:nvPr/>
        </p:nvSpPr>
        <p:spPr>
          <a:xfrm>
            <a:off x="4683400" y="2662500"/>
            <a:ext cx="3700000" cy="1125000"/>
          </a:xfrm>
          <a:prstGeom prst="roundRect">
            <a:avLst>
              <a:gd fmla="val 6000" name="adj"/>
            </a:avLst>
          </a:prstGeom>
          <a:solidFill>
            <a:srgbClr val="F2E3E6"/>
          </a:solidFill>
          <a:ln>
            <a:noFill/>
          </a:ln>
        </p:spPr>
        <p:txBody>
          <a:bodyPr anchorCtr="0" anchor="ctr" bIns="45700" lIns="180000" spcFirstLastPara="1" rIns="180000" wrap="square" tIns="14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rPr>
              <a:t>Krzywa ROC / AUC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Zdolność rozróżniania klas przy różnych progach decyzyjnych.</a:t>
            </a:r>
            <a:endParaRPr/>
          </a:p>
        </p:txBody>
      </p:sp>
      <p:sp>
        <p:nvSpPr>
          <p:cNvPr id="356" name="Google Shape;356;p34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 txBox="1"/>
          <p:nvPr>
            <p:ph idx="2" type="body"/>
          </p:nvPr>
        </p:nvSpPr>
        <p:spPr>
          <a:xfrm>
            <a:off x="533400" y="547500"/>
            <a:ext cx="78486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3600"/>
              <a:buNone/>
            </a:pPr>
            <a:r>
              <a:rPr lang="en"/>
              <a:t>Narzędzia i technologie</a:t>
            </a:r>
            <a:endParaRPr/>
          </a:p>
        </p:txBody>
      </p:sp>
      <p:sp>
        <p:nvSpPr>
          <p:cNvPr id="362" name="Google Shape;362;p35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363" name="Google Shape;363;p35"/>
          <p:cNvSpPr/>
          <p:nvPr/>
        </p:nvSpPr>
        <p:spPr>
          <a:xfrm>
            <a:off x="533400" y="1410000"/>
            <a:ext cx="2416200" cy="1125000"/>
          </a:xfrm>
          <a:prstGeom prst="roundRect">
            <a:avLst>
              <a:gd fmla="val 7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ctr" bIns="45700" lIns="150000" spcFirstLastPara="1" rIns="15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JEZYK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/>
          </a:p>
        </p:txBody>
      </p:sp>
      <p:sp>
        <p:nvSpPr>
          <p:cNvPr id="364" name="Google Shape;364;p35"/>
          <p:cNvSpPr/>
          <p:nvPr/>
        </p:nvSpPr>
        <p:spPr>
          <a:xfrm>
            <a:off x="3249600" y="1410000"/>
            <a:ext cx="2416200" cy="1125000"/>
          </a:xfrm>
          <a:prstGeom prst="roundRect">
            <a:avLst>
              <a:gd fmla="val 7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ctr" bIns="45700" lIns="150000" spcFirstLastPara="1" rIns="15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PACKAGE MANAGER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uv</a:t>
            </a:r>
            <a:endParaRPr/>
          </a:p>
        </p:txBody>
      </p:sp>
      <p:sp>
        <p:nvSpPr>
          <p:cNvPr id="365" name="Google Shape;365;p35"/>
          <p:cNvSpPr/>
          <p:nvPr/>
        </p:nvSpPr>
        <p:spPr>
          <a:xfrm>
            <a:off x="5965800" y="1410000"/>
            <a:ext cx="2416200" cy="1125000"/>
          </a:xfrm>
          <a:prstGeom prst="roundRect">
            <a:avLst>
              <a:gd fmla="val 7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ctr" bIns="45700" lIns="150000" spcFirstLastPara="1" rIns="15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FRAMEWORK DL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/>
          </a:p>
        </p:txBody>
      </p:sp>
      <p:sp>
        <p:nvSpPr>
          <p:cNvPr id="366" name="Google Shape;366;p35"/>
          <p:cNvSpPr/>
          <p:nvPr/>
        </p:nvSpPr>
        <p:spPr>
          <a:xfrm>
            <a:off x="533400" y="2737500"/>
            <a:ext cx="2416200" cy="1125000"/>
          </a:xfrm>
          <a:prstGeom prst="roundRect">
            <a:avLst>
              <a:gd fmla="val 7000" name="adj"/>
            </a:avLst>
          </a:prstGeom>
          <a:solidFill>
            <a:srgbClr val="F2E3E6"/>
          </a:solidFill>
          <a:ln>
            <a:noFill/>
          </a:ln>
        </p:spPr>
        <p:txBody>
          <a:bodyPr anchorCtr="0" anchor="ctr" bIns="45700" lIns="150000" spcFirstLastPara="1" rIns="15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rPr>
              <a:t>NOTEBOOKI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endParaRPr/>
          </a:p>
        </p:txBody>
      </p:sp>
      <p:sp>
        <p:nvSpPr>
          <p:cNvPr id="367" name="Google Shape;367;p35"/>
          <p:cNvSpPr/>
          <p:nvPr/>
        </p:nvSpPr>
        <p:spPr>
          <a:xfrm>
            <a:off x="3249600" y="2737500"/>
            <a:ext cx="2416200" cy="1125000"/>
          </a:xfrm>
          <a:prstGeom prst="roundRect">
            <a:avLst>
              <a:gd fmla="val 7000" name="adj"/>
            </a:avLst>
          </a:prstGeom>
          <a:solidFill>
            <a:srgbClr val="F2E3E6"/>
          </a:solidFill>
          <a:ln>
            <a:noFill/>
          </a:ln>
        </p:spPr>
        <p:txBody>
          <a:bodyPr anchorCtr="0" anchor="ctr" bIns="45700" lIns="150000" spcFirstLastPara="1" rIns="15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rPr>
              <a:t>WIZUALIZACJA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/>
          </a:p>
        </p:txBody>
      </p:sp>
      <p:sp>
        <p:nvSpPr>
          <p:cNvPr id="368" name="Google Shape;368;p35"/>
          <p:cNvSpPr/>
          <p:nvPr/>
        </p:nvSpPr>
        <p:spPr>
          <a:xfrm>
            <a:off x="5965800" y="2737500"/>
            <a:ext cx="2416200" cy="1125000"/>
          </a:xfrm>
          <a:prstGeom prst="roundRect">
            <a:avLst>
              <a:gd fmla="val 7000" name="adj"/>
            </a:avLst>
          </a:prstGeom>
          <a:solidFill>
            <a:srgbClr val="F2E3E6"/>
          </a:solidFill>
          <a:ln>
            <a:noFill/>
          </a:ln>
        </p:spPr>
        <p:txBody>
          <a:bodyPr anchorCtr="0" anchor="ctr" bIns="45700" lIns="150000" spcFirstLastPara="1" rIns="15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rPr>
              <a:t>EMBEDDINGI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GloVe 300d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5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2" type="body"/>
          </p:nvPr>
        </p:nvSpPr>
        <p:spPr>
          <a:xfrm>
            <a:off x="533400" y="547500"/>
            <a:ext cx="78486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3600"/>
              <a:buNone/>
            </a:pPr>
            <a:r>
              <a:rPr lang="en"/>
              <a:t>Architektura aplikacji - warstwy</a:t>
            </a:r>
            <a:endParaRPr/>
          </a:p>
        </p:txBody>
      </p:sp>
      <p:sp>
        <p:nvSpPr>
          <p:cNvPr id="375" name="Google Shape;375;p36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376" name="Google Shape;376;p36"/>
          <p:cNvSpPr/>
          <p:nvPr/>
        </p:nvSpPr>
        <p:spPr>
          <a:xfrm>
            <a:off x="360000" y="1170000"/>
            <a:ext cx="74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7780"/>
                </a:solidFill>
                <a:latin typeface="Calibri"/>
                <a:ea typeface="Calibri"/>
                <a:cs typeface="Calibri"/>
                <a:sym typeface="Calibri"/>
              </a:rPr>
              <a:t>żądanie</a:t>
            </a: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560000" y="1440000"/>
            <a:ext cx="340000" cy="2610000"/>
          </a:xfrm>
          <a:prstGeom prst="downArrow">
            <a:avLst>
              <a:gd fmla="val 60000" name="adj1"/>
              <a:gd fmla="val 45000" name="adj2"/>
            </a:avLst>
          </a:prstGeom>
          <a:solidFill>
            <a:srgbClr val="C9D2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7520000" y="1170000"/>
            <a:ext cx="108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7780"/>
                </a:solidFill>
                <a:latin typeface="Calibri"/>
                <a:ea typeface="Calibri"/>
                <a:cs typeface="Calibri"/>
                <a:sym typeface="Calibri"/>
              </a:rPr>
              <a:t>odpowiedź</a:t>
            </a:r>
            <a:endParaRPr/>
          </a:p>
        </p:txBody>
      </p:sp>
      <p:sp>
        <p:nvSpPr>
          <p:cNvPr id="379" name="Google Shape;379;p36"/>
          <p:cNvSpPr/>
          <p:nvPr/>
        </p:nvSpPr>
        <p:spPr>
          <a:xfrm>
            <a:off x="7700000" y="1440000"/>
            <a:ext cx="340000" cy="2610000"/>
          </a:xfrm>
          <a:prstGeom prst="upArrow">
            <a:avLst>
              <a:gd fmla="val 60000" name="adj1"/>
              <a:gd fmla="val 45000" name="adj2"/>
            </a:avLst>
          </a:prstGeom>
          <a:solidFill>
            <a:srgbClr val="C9D2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1100000" y="1425000"/>
            <a:ext cx="6200000" cy="615000"/>
          </a:xfrm>
          <a:prstGeom prst="roundRect">
            <a:avLst>
              <a:gd fmla="val 6000" name="adj"/>
            </a:avLst>
          </a:prstGeom>
          <a:solidFill>
            <a:srgbClr val="2E9BD6"/>
          </a:solidFill>
          <a:ln>
            <a:noFill/>
          </a:ln>
        </p:spPr>
        <p:txBody>
          <a:bodyPr anchorCtr="0" anchor="ctr" bIns="45700" lIns="220000" spcFirstLastPara="1" rIns="180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-   wklejenie artykułu, wynik real/fake, wizualizacja attention</a:t>
            </a:r>
            <a:endParaRPr/>
          </a:p>
        </p:txBody>
      </p:sp>
      <p:sp>
        <p:nvSpPr>
          <p:cNvPr id="381" name="Google Shape;381;p36"/>
          <p:cNvSpPr/>
          <p:nvPr/>
        </p:nvSpPr>
        <p:spPr>
          <a:xfrm>
            <a:off x="1100000" y="2115000"/>
            <a:ext cx="6200000" cy="615000"/>
          </a:xfrm>
          <a:prstGeom prst="roundRect">
            <a:avLst>
              <a:gd fmla="val 6000" name="adj"/>
            </a:avLst>
          </a:prstGeom>
          <a:solidFill>
            <a:srgbClr val="0F7DC1"/>
          </a:solidFill>
          <a:ln>
            <a:noFill/>
          </a:ln>
        </p:spPr>
        <p:txBody>
          <a:bodyPr anchorCtr="0" anchor="ctr" bIns="45700" lIns="220000" spcFirstLastPara="1" rIns="180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-   usługa REST (FastAPI): walidacja wejścia, serwowanie predykcji</a:t>
            </a:r>
            <a:endParaRPr/>
          </a:p>
        </p:txBody>
      </p:sp>
      <p:sp>
        <p:nvSpPr>
          <p:cNvPr id="382" name="Google Shape;382;p36"/>
          <p:cNvSpPr/>
          <p:nvPr/>
        </p:nvSpPr>
        <p:spPr>
          <a:xfrm>
            <a:off x="1100000" y="2805000"/>
            <a:ext cx="6200000" cy="615000"/>
          </a:xfrm>
          <a:prstGeom prst="roundRect">
            <a:avLst>
              <a:gd fmla="val 6000" name="adj"/>
            </a:avLst>
          </a:prstGeom>
          <a:solidFill>
            <a:srgbClr val="0C5E8F"/>
          </a:solidFill>
          <a:ln>
            <a:noFill/>
          </a:ln>
        </p:spPr>
        <p:txBody>
          <a:bodyPr anchorCtr="0" anchor="ctr" bIns="45700" lIns="220000" spcFirstLastPara="1" rIns="180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-   BiLSTM + Attention (PyTorch): inferencja i wagi uwagi</a:t>
            </a:r>
            <a:endParaRPr/>
          </a:p>
        </p:txBody>
      </p:sp>
      <p:sp>
        <p:nvSpPr>
          <p:cNvPr id="383" name="Google Shape;383;p36"/>
          <p:cNvSpPr/>
          <p:nvPr/>
        </p:nvSpPr>
        <p:spPr>
          <a:xfrm>
            <a:off x="1100000" y="3495000"/>
            <a:ext cx="6200000" cy="615000"/>
          </a:xfrm>
          <a:prstGeom prst="roundRect">
            <a:avLst>
              <a:gd fmla="val 6000" name="adj"/>
            </a:avLst>
          </a:prstGeom>
          <a:solidFill>
            <a:srgbClr val="820E20"/>
          </a:solidFill>
          <a:ln>
            <a:noFill/>
          </a:ln>
        </p:spPr>
        <p:txBody>
          <a:bodyPr anchorCtr="0" anchor="ctr" bIns="45700" lIns="220000" spcFirstLastPara="1" rIns="180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Dane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-   dataset Kaggle, czyszczenie, tokenizacja, embeddingi GloVe 300d</a:t>
            </a:r>
            <a:endParaRPr/>
          </a:p>
        </p:txBody>
      </p:sp>
      <p:sp>
        <p:nvSpPr>
          <p:cNvPr id="384" name="Google Shape;384;p36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 txBox="1"/>
          <p:nvPr>
            <p:ph idx="2" type="body"/>
          </p:nvPr>
        </p:nvSpPr>
        <p:spPr>
          <a:xfrm>
            <a:off x="533400" y="547500"/>
            <a:ext cx="78486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3600"/>
              <a:buNone/>
            </a:pPr>
            <a:r>
              <a:rPr lang="en"/>
              <a:t>Warstwy aplikacji - szczegóły</a:t>
            </a:r>
            <a:endParaRPr/>
          </a:p>
        </p:txBody>
      </p:sp>
      <p:sp>
        <p:nvSpPr>
          <p:cNvPr id="390" name="Google Shape;390;p37"/>
          <p:cNvSpPr txBox="1"/>
          <p:nvPr>
            <p:ph idx="3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391" name="Google Shape;391;p37"/>
          <p:cNvSpPr/>
          <p:nvPr/>
        </p:nvSpPr>
        <p:spPr>
          <a:xfrm>
            <a:off x="533400" y="1387500"/>
            <a:ext cx="3760000" cy="1575000"/>
          </a:xfrm>
          <a:prstGeom prst="roundRect">
            <a:avLst>
              <a:gd fmla="val 5000" name="adj"/>
            </a:avLst>
          </a:prstGeom>
          <a:solidFill>
            <a:srgbClr val="F2E3E6"/>
          </a:solidFill>
          <a:ln>
            <a:noFill/>
          </a:ln>
        </p:spPr>
        <p:txBody>
          <a:bodyPr anchorCtr="0" anchor="t" bIns="100000" lIns="180000" spcFirstLastPara="1" rIns="160000" wrap="square" tIns="1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0E20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820E20"/>
                </a:solidFill>
                <a:latin typeface="Calibri"/>
                <a:ea typeface="Calibri"/>
                <a:cs typeface="Calibri"/>
                <a:sym typeface="Calibri"/>
              </a:rPr>
              <a:t>Warstwa danych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 Kaggle (fake-and-real-news)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Czyszczenie i deduplikacja → 38 475 artykułów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Tokenizacja, embeddingi GloVe 300d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Podział train / val / test</a:t>
            </a:r>
            <a:endParaRPr/>
          </a:p>
        </p:txBody>
      </p:sp>
      <p:sp>
        <p:nvSpPr>
          <p:cNvPr id="392" name="Google Shape;392;p37"/>
          <p:cNvSpPr/>
          <p:nvPr/>
        </p:nvSpPr>
        <p:spPr>
          <a:xfrm>
            <a:off x="4840600" y="1387500"/>
            <a:ext cx="3760000" cy="1575000"/>
          </a:xfrm>
          <a:prstGeom prst="roundRect">
            <a:avLst>
              <a:gd fmla="val 5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t" bIns="100000" lIns="180000" spcFirstLastPara="1" rIns="160000" wrap="square" tIns="1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5E8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0C5E8F"/>
                </a:solidFill>
                <a:latin typeface="Calibri"/>
                <a:ea typeface="Calibri"/>
                <a:cs typeface="Calibri"/>
                <a:sym typeface="Calibri"/>
              </a:rPr>
              <a:t>Warstwa modelu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BiLSTM + Attention (PyTorch)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Pętla treningowa, ReLU / Leaky ReLU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Checkpointy modelu (.pt)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Inferencja + wagi attention</a:t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533400" y="3090000"/>
            <a:ext cx="3760000" cy="1575000"/>
          </a:xfrm>
          <a:prstGeom prst="roundRect">
            <a:avLst>
              <a:gd fmla="val 5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t" bIns="100000" lIns="180000" spcFirstLastPara="1" rIns="160000" wrap="square" tIns="1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0F7DC1"/>
                </a:solidFill>
                <a:latin typeface="Calibri"/>
                <a:ea typeface="Calibri"/>
                <a:cs typeface="Calibri"/>
                <a:sym typeface="Calibri"/>
              </a:rPr>
              <a:t>Warstwa API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Usługa REST (FastAPI)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Endpoint POST /predict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Walidacja wejścia (Pydantic)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Zwraca etykietę, prawdopodobieństwo, wagi</a:t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4840600" y="3090000"/>
            <a:ext cx="3760000" cy="1575000"/>
          </a:xfrm>
          <a:prstGeom prst="roundRect">
            <a:avLst>
              <a:gd fmla="val 5000" name="adj"/>
            </a:avLst>
          </a:prstGeom>
          <a:solidFill>
            <a:srgbClr val="E8EFF5"/>
          </a:solidFill>
          <a:ln>
            <a:noFill/>
          </a:ln>
        </p:spPr>
        <p:txBody>
          <a:bodyPr anchorCtr="0" anchor="t" bIns="100000" lIns="180000" spcFirstLastPara="1" rIns="160000" wrap="square" tIns="1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BD6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2E9BD6"/>
                </a:solidFill>
                <a:latin typeface="Calibri"/>
                <a:ea typeface="Calibri"/>
                <a:cs typeface="Calibri"/>
                <a:sym typeface="Calibri"/>
              </a:rPr>
              <a:t>Warstwa frontend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Interfejs: wklejenie tekstu artykułu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Wynik klasyfikacji real / fake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Podświetlenie słów wg attention</a:t>
            </a:r>
            <a:endParaRPr/>
          </a:p>
          <a:p>
            <a:pPr indent="-200000" lvl="0" marL="200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Komunikacja z API (żądanie / odpowiedź)</a:t>
            </a:r>
            <a:endParaRPr/>
          </a:p>
        </p:txBody>
      </p:sp>
      <p:sp>
        <p:nvSpPr>
          <p:cNvPr id="395" name="Google Shape;395;p37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idx="1" type="body"/>
          </p:nvPr>
        </p:nvSpPr>
        <p:spPr>
          <a:xfrm>
            <a:off x="457200" y="1137642"/>
            <a:ext cx="6324600" cy="80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20E20"/>
              </a:buClr>
              <a:buSzPts val="3600"/>
              <a:buNone/>
            </a:pPr>
            <a:r>
              <a:rPr lang="en"/>
              <a:t>Dziekuje za uwage</a:t>
            </a:r>
            <a:endParaRPr/>
          </a:p>
        </p:txBody>
      </p:sp>
      <p:sp>
        <p:nvSpPr>
          <p:cNvPr id="401" name="Google Shape;401;p38"/>
          <p:cNvSpPr txBox="1"/>
          <p:nvPr>
            <p:ph idx="5" type="body"/>
          </p:nvPr>
        </p:nvSpPr>
        <p:spPr>
          <a:xfrm>
            <a:off x="457200" y="2286000"/>
            <a:ext cx="624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"/>
              <a:t>Aleksander Oleszkiewicz</a:t>
            </a:r>
            <a:endParaRPr/>
          </a:p>
        </p:txBody>
      </p:sp>
      <p:sp>
        <p:nvSpPr>
          <p:cNvPr id="402" name="Google Shape;402;p38"/>
          <p:cNvSpPr txBox="1"/>
          <p:nvPr>
            <p:ph idx="3" type="body"/>
          </p:nvPr>
        </p:nvSpPr>
        <p:spPr>
          <a:xfrm>
            <a:off x="457200" y="2628900"/>
            <a:ext cx="624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DC1"/>
              </a:buClr>
              <a:buSzPts val="1600"/>
              <a:buNone/>
            </a:pPr>
            <a:r>
              <a:rPr lang="en"/>
              <a:t>Student; Informatyka Stosowana</a:t>
            </a:r>
            <a:endParaRPr/>
          </a:p>
        </p:txBody>
      </p:sp>
      <p:sp>
        <p:nvSpPr>
          <p:cNvPr id="403" name="Google Shape;403;p38"/>
          <p:cNvSpPr txBox="1"/>
          <p:nvPr>
            <p:ph idx="6" type="body"/>
          </p:nvPr>
        </p:nvSpPr>
        <p:spPr>
          <a:xfrm>
            <a:off x="2438401" y="92239"/>
            <a:ext cx="4495800" cy="193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Wykrywanie fake news - BiLSTM + Attention</a:t>
            </a:r>
            <a:endParaRPr/>
          </a:p>
        </p:txBody>
      </p:sp>
      <p:sp>
        <p:nvSpPr>
          <p:cNvPr id="404" name="Google Shape;404;p38"/>
          <p:cNvSpPr txBox="1"/>
          <p:nvPr>
            <p:ph idx="12" type="sldNum"/>
          </p:nvPr>
        </p:nvSpPr>
        <p:spPr>
          <a:xfrm>
            <a:off x="8534400" y="1143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